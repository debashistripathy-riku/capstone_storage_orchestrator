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548640"/>
          <a:lstStyle/>
          <a:p>
            <a:pPr algn="ctr">
              <a:defRPr sz="3200" b="1">
                <a:solidFill>
                  <a:srgbClr val="58A6FF"/>
                </a:solidFill>
              </a:defRPr>
            </a:pPr>
            <a:r>
              <a:t>MULTI-TIER STORAGE ORCHESTRATOR</a:t>
            </a:r>
          </a:p>
          <a:p>
            <a:pPr algn="ctr">
              <a:defRPr sz="2400" b="1">
                <a:solidFill>
                  <a:srgbClr val="3FB950"/>
                </a:solidFill>
              </a:defRPr>
            </a:pPr>
            <a:r>
              <a:t>&amp; VIRTUAL STORAGE ENGINE</a:t>
            </a:r>
          </a:p>
          <a:p>
            <a:br/>
            <a:pPr algn="ctr">
              <a:defRPr sz="1600">
                <a:solidFill>
                  <a:srgbClr val="F0F6FC"/>
                </a:solidFill>
              </a:defRPr>
            </a:pPr>
            <a:r>
              <a:t>Linux Kernel Driver (C) &amp; Multithreaded C++ Storage Engine</a:t>
            </a:r>
            <a:br/>
          </a:p>
          <a:p>
            <a:pPr algn="ctr">
              <a:defRPr sz="1500">
                <a:solidFill>
                  <a:srgbClr val="8B949E"/>
                </a:solidFill>
              </a:defRPr>
            </a:pPr>
            <a:r>
              <a:t>Author: Debashis Tripathy | Reg No: 2341020048</a:t>
            </a:r>
            <a:br/>
            <a:r>
              <a:t>Course: Wipro COE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STAGE 1 &amp; STAGE 2</a:t>
            </a:r>
          </a:p>
          <a:p>
            <a:pPr>
              <a:defRPr sz="2800" b="1">
                <a:solidFill>
                  <a:srgbClr val="F0F6FC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58A6FF"/>
                </a:solidFill>
              </a:defRPr>
            </a:pPr>
            <a:r>
              <a:t>Problem Statement</a:t>
            </a:r>
          </a:p>
          <a:p>
            <a:br/>
            <a:pPr>
              <a:defRPr sz="1400">
                <a:solidFill>
                  <a:srgbClr val="F0F6FC"/>
                </a:solidFill>
              </a:defRPr>
            </a:pPr>
            <a:r>
              <a:t>• Active data consumes high-speed RAM, but storage space is limited.</a:t>
            </a:r>
            <a:br/>
            <a:r>
              <a:t>• Persistent disk storage is slow for direct high-frequency reads/writes.</a:t>
            </a:r>
            <a:br/>
            <a:r>
              <a:t>• Enterprise systems require an automated tiering engine to manage RAM queues and flush cold logs to disk without blocking application threads.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3FB950"/>
                </a:solidFill>
              </a:defRPr>
            </a:pPr>
            <a:r>
              <a:t>Project Objectives</a:t>
            </a:r>
          </a:p>
          <a:p>
            <a:br/>
            <a:pPr>
              <a:defRPr sz="1400">
                <a:solidFill>
                  <a:srgbClr val="F0F6FC"/>
                </a:solidFill>
              </a:defRPr>
            </a:pPr>
            <a:r>
              <a:t>1. Build a C character driver (/dev/hotcold_dev) with ioctl and sysfs.</a:t>
            </a:r>
            <a:br/>
            <a:r>
              <a:t>2. Implement a C++ Storage Engine managing RAM queues &amp; file logs.</a:t>
            </a:r>
            <a:br/>
            <a:r>
              <a:t>3. Monitor system CPU &amp; RAM usage by parsing Linux /proc files.</a:t>
            </a:r>
            <a:br/>
            <a:r>
              <a:t>4. Build an interactive POSIX TCP socket CLI server on port 8080.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STAGE 3 DESIGN</a:t>
            </a:r>
          </a:p>
          <a:p>
            <a:pPr>
              <a:defRPr sz="2800" b="1">
                <a:solidFill>
                  <a:srgbClr val="F0F6FC"/>
                </a:solidFill>
              </a:defRPr>
            </a:pPr>
            <a:r>
              <a:t>System Architecture &amp; Data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58A6FF"/>
                </a:solidFill>
              </a:defRPr>
            </a:pPr>
            <a:r>
              <a:t>System Architecture Flow</a:t>
            </a:r>
          </a:p>
          <a:p>
            <a:br/>
            <a:pPr>
              <a:defRPr sz="1100">
                <a:solidFill>
                  <a:srgbClr val="3FB950"/>
                </a:solidFill>
                <a:latin typeface="Consolas"/>
              </a:defRPr>
            </a:pPr>
            <a:r>
              <a:t>    +------------------------+      +---------------------------------+</a:t>
            </a:r>
            <a:br/>
            <a:r>
              <a:t>    | Software Data Generator| ---&gt; | Linux Character Driver (/dev)   |</a:t>
            </a:r>
            <a:br/>
            <a:r>
              <a:t>    +------------------------+      +---------------------------------+</a:t>
            </a:r>
            <a:br/>
            <a:r>
              <a:t>                                                     |</a:t>
            </a:r>
            <a:br/>
            <a:r>
              <a:t>                                                     v</a:t>
            </a:r>
            <a:br/>
            <a:r>
              <a:t>                                    +---------------------------------+</a:t>
            </a:r>
            <a:br/>
            <a:r>
              <a:t>                                    | C++ DriverInterface             |</a:t>
            </a:r>
            <a:br/>
            <a:r>
              <a:t>                                    +---------------------------------+</a:t>
            </a:r>
            <a:br/>
            <a:r>
              <a:t>                                                     |</a:t>
            </a:r>
            <a:br/>
            <a:r>
              <a:t>                                                     v</a:t>
            </a:r>
            <a:br/>
            <a:r>
              <a:t>                                    +---------------------------------+</a:t>
            </a:r>
            <a:br/>
            <a:r>
              <a:t>                                    | TelemetryEngine Daemon          |</a:t>
            </a:r>
            <a:br/>
            <a:r>
              <a:t>                                    +---------------------------------+</a:t>
            </a:r>
            <a:br/>
            <a:r>
              <a:t>                                      /              |              \</a:t>
            </a:r>
            <a:br/>
            <a:r>
              <a:t>                       +----------------+   +------------------+   +-----------------+</a:t>
            </a:r>
            <a:br/>
            <a:r>
              <a:t>                       | RAM Hot Tier   |   | Disk Cold Tier   |   | Linux /proc     |</a:t>
            </a:r>
            <a:br/>
            <a:r>
              <a:t>                       | (RAM Buffer)   |   | (File Storage)   |   | (CPU/RAM Stats) |</a:t>
            </a:r>
            <a:br/>
            <a:r>
              <a:t>                       +----------------+   +------------------+   +-----------------+</a:t>
            </a:r>
            <a:br/>
            <a:r>
              <a:t>                                      \              |              /</a:t>
            </a:r>
            <a:br/>
            <a:r>
              <a:t>                                       +-------------+-------------+</a:t>
            </a:r>
            <a:br/>
            <a:r>
              <a:t>                                                     |</a:t>
            </a:r>
            <a:br/>
            <a:r>
              <a:t>                                                     v</a:t>
            </a:r>
            <a:br/>
            <a:r>
              <a:t>                                    +---------------------------------+</a:t>
            </a:r>
            <a:br/>
            <a:r>
              <a:t>                                    | POSIX TCP Socket Server (8080)  | &lt;---&gt; [ telemetry_cli ]</a:t>
            </a:r>
            <a:br/>
            <a:r>
              <a:t>                                    +---------------------------------+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STAGE 4 KERNEL LAYER</a:t>
            </a:r>
          </a:p>
          <a:p>
            <a:pPr>
              <a:defRPr sz="2800" b="1">
                <a:solidFill>
                  <a:srgbClr val="F0F6FC"/>
                </a:solidFill>
              </a:defRPr>
            </a:pPr>
            <a:r>
              <a:t>Linux Character Device Driver (/dev/hotcold_dev)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2000" b="1">
                <a:solidFill>
                  <a:srgbClr val="58A6FF"/>
                </a:solidFill>
              </a:defRPr>
            </a:pPr>
            <a:r>
              <a:t>Driver Features &amp; Kernel Implementation</a:t>
            </a:r>
          </a:p>
          <a:p>
            <a:br/>
            <a:pPr>
              <a:defRPr sz="1400">
                <a:solidFill>
                  <a:srgbClr val="F0F6FC"/>
                </a:solidFill>
              </a:defRPr>
            </a:pPr>
            <a:r>
              <a:t>• Character Device Registration: alloc_chrdev_region() and cdev_add() under /dev/hotcold_dev.</a:t>
            </a:r>
            <a:br/>
            <a:r>
              <a:t>• Kernel Memory Protection: 64-entry ring buffer synchronized using spin_lock_irqsave().</a:t>
            </a:r>
            <a:br/>
            <a:r>
              <a:t>• IOCTL Commands:</a:t>
            </a:r>
            <a:br/>
            <a:r>
              <a:t>   - TELEMETRY_IOCTL_SET_SAMPLING_RATE: Updates rate in milliseconds.</a:t>
            </a:r>
            <a:br/>
            <a:r>
              <a:t>   - TELEMETRY_IOCTL_FLUSH_CACHE: Clears active ring buffer entries.</a:t>
            </a:r>
            <a:br/>
            <a:r>
              <a:t>   - TELEMETRY_IOCTL_GET_STATS: Queries execution counters.</a:t>
            </a:r>
            <a:br/>
            <a:r>
              <a:t>• Sysfs Attributes: /sys/class/hotcold_class/hotcold_dev/stats node.</a:t>
            </a:r>
            <a:br/>
            <a:r>
              <a:t>• Software Fallback: Includes C++ user-space ring buffer fallback for non-root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MEMORY MANAGEMENT</a:t>
            </a:r>
          </a:p>
          <a:p>
            <a:pPr>
              <a:defRPr sz="2800" b="1">
                <a:solidFill>
                  <a:srgbClr val="F0F6FC"/>
                </a:solidFill>
              </a:defRPr>
            </a:pPr>
            <a:r>
              <a:t>C++ Storage Engine &amp; Concurrency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2000" b="1">
                <a:solidFill>
                  <a:srgbClr val="3FB950"/>
                </a:solidFill>
              </a:defRPr>
            </a:pPr>
            <a:r>
              <a:t>Storage Architecture &amp; Thread Safety</a:t>
            </a:r>
          </a:p>
          <a:p>
            <a:br/>
            <a:pPr>
              <a:defRPr sz="1400">
                <a:solidFill>
                  <a:srgbClr val="F0F6FC"/>
                </a:solidFill>
              </a:defRPr>
            </a:pPr>
            <a:r>
              <a:t>• Hot RAM Tier: High-speed std::deque&lt;StorageBlock&gt; buffer for active memory operations.</a:t>
            </a:r>
            <a:br/>
            <a:r>
              <a:t>• Cold Disk Tier: Automatic demotion of oldest RAM blocks to virtual_storage.log file.</a:t>
            </a:r>
            <a:br/>
            <a:r>
              <a:t>• Concurrency Model: std::shared_mutex allowing multiple concurrent readers and exclusive writer lock.</a:t>
            </a:r>
            <a:br/>
            <a:r>
              <a:t>• Memory Safety: RAII principles and std::unique_ptr smart pointers eliminate memory leaks.</a:t>
            </a:r>
            <a:br/>
            <a:r>
              <a:t>• Signal Handling: Catches SIGINT, SIGTERM for graceful exit, and SIGUSR1 for manual cache flush.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SYSTEM MONITORING</a:t>
            </a:r>
          </a:p>
          <a:p>
            <a:pPr>
              <a:defRPr sz="2800" b="1">
                <a:solidFill>
                  <a:srgbClr val="F0F6FC"/>
                </a:solidFill>
              </a:defRPr>
            </a:pPr>
            <a:r>
              <a:t>Linux /proc Process &amp; Resource Inspector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2000" b="1">
                <a:solidFill>
                  <a:srgbClr val="58A6FF"/>
                </a:solidFill>
              </a:defRPr>
            </a:pPr>
            <a:r>
              <a:t>Parsing Linux Virtual Filesystem (/proc)</a:t>
            </a:r>
          </a:p>
          <a:p>
            <a:br/>
            <a:pPr>
              <a:defRPr sz="1400">
                <a:solidFill>
                  <a:srgbClr val="F0F6FC"/>
                </a:solidFill>
              </a:defRPr>
            </a:pPr>
            <a:r>
              <a:t>• CPU Metrics: Parses /proc/stat ticks (user, system, idle) to compute CPU usage percentage.</a:t>
            </a:r>
            <a:br/>
            <a:r>
              <a:t>• Memory Metrics: Reads /proc/meminfo (MemTotal, MemAvailable) to calculate system RAM consumption.</a:t>
            </a:r>
            <a:br/>
            <a:r>
              <a:t>• Process Metrics: Inspects current daemon PID and active thread status.</a:t>
            </a:r>
            <a:br/>
            <a:r>
              <a:t>• Pure Software: Operates via standard Linux file streams without physical hardware.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NETWORK PROGRAMMING</a:t>
            </a:r>
          </a:p>
          <a:p>
            <a:pPr>
              <a:defRPr sz="2800" b="1">
                <a:solidFill>
                  <a:srgbClr val="F0F6FC"/>
                </a:solidFill>
              </a:defRPr>
            </a:pPr>
            <a:r>
              <a:t>POSIX Socket IPC &amp; CLI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2000" b="1">
                <a:solidFill>
                  <a:srgbClr val="3FB950"/>
                </a:solidFill>
              </a:defRPr>
            </a:pPr>
            <a:r>
              <a:t>Client/Server POSIX Socket Architecture</a:t>
            </a:r>
          </a:p>
          <a:p>
            <a:br/>
            <a:pPr>
              <a:defRPr sz="1400">
                <a:solidFill>
                  <a:srgbClr val="F0F6FC"/>
                </a:solidFill>
              </a:defRPr>
            </a:pPr>
            <a:r>
              <a:t>• Server Daemon: Binds POSIX TCP socket to Port 8080 (socket, bind, listen, accept).</a:t>
            </a:r>
            <a:br/>
            <a:r>
              <a:t>• CLI Commands (telemetry_cli):</a:t>
            </a:r>
            <a:br/>
            <a:r>
              <a:t>   - STATS       : Displays blocks stored, disk bytes written, and driver state.</a:t>
            </a:r>
            <a:br/>
            <a:r>
              <a:t>   - PROC        : Displays CPU and RAM metrics parsed from /proc.</a:t>
            </a:r>
            <a:br/>
            <a:r>
              <a:t>   - RATE &lt;ms&gt;   : Sends ioctl to change sampling rate dynamically.</a:t>
            </a:r>
            <a:br/>
            <a:r>
              <a:t>   - FAULT_ON/OFF: Toggles stress testing mode.</a:t>
            </a:r>
            <a:br/>
            <a:r>
              <a:t>   - PING        : Tests daemon connection health.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STAGE 5 VERIFICATION</a:t>
            </a:r>
          </a:p>
          <a:p>
            <a:pPr>
              <a:defRPr sz="2800" b="1">
                <a:solidFill>
                  <a:srgbClr val="F0F6FC"/>
                </a:solidFill>
              </a:defRPr>
            </a:pPr>
            <a:r>
              <a:t>Automated Testing &amp; Benchmark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8229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58A6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58A6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58A6FF"/>
                          </a:solidFill>
                        </a:defRPr>
                      </a:pPr>
                      <a:r>
                        <a:t>Measured Result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58A6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Compilation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0 Errors, 0 Warnings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0 Errors, 0 Warnings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FB950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Unit Test Suite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100% Pass Rate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4/4 Tests Passed (100%)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FB950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Processing Throughput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&gt; 1,000,000 blocks/sec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2,285,200 blocks/sec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FB950"/>
                          </a:solidFill>
                        </a:defRPr>
                      </a:pPr>
                      <a:r>
                        <a:t>EXCEEDED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Block Latency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&lt; 1.0 µs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0.43 µs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FB950"/>
                          </a:solidFill>
                        </a:defRPr>
                      </a:pPr>
                      <a:r>
                        <a:t>EXCEEDED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8A6FF"/>
                </a:solidFill>
              </a:defRPr>
            </a:pPr>
            <a:r>
              <a:t>COURSE COVERAGE</a:t>
            </a:r>
          </a:p>
          <a:p>
            <a:pPr>
              <a:defRPr sz="2800" b="1">
                <a:solidFill>
                  <a:srgbClr val="F0F6FC"/>
                </a:solidFill>
              </a:defRPr>
            </a:pPr>
            <a:r>
              <a:t>20-Day Training Topic Mapping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6858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58A6FF"/>
                          </a:solidFill>
                        </a:defRPr>
                      </a:pPr>
                      <a:r>
                        <a:t>Training Topic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58A6FF"/>
                          </a:solidFill>
                        </a:defRPr>
                      </a:pPr>
                      <a:r>
                        <a:t>Implemented Project Component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Linux Kernel Drivers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Character driver, ioctl, sysfs node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System Programming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std::thread, std::shared_mutex, signals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Computer Architecture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RAM Hot Tier vs Disk Cold Tier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Network Programming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POSIX TCP Socket Server (Port 8080)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C++ Programming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0F6FC"/>
                          </a:solidFill>
                        </a:defRPr>
                      </a:pPr>
                      <a:r>
                        <a:t>C++17 OOP, smart pointers, STL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61B22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914400"/>
          <a:lstStyle/>
          <a:p>
            <a:pPr algn="ctr">
              <a:defRPr sz="2800" b="1">
                <a:solidFill>
                  <a:srgbClr val="3FB950"/>
                </a:solidFill>
              </a:defRPr>
            </a:pPr>
            <a:r>
              <a:t>PROJECT SUBMISSION READY</a:t>
            </a:r>
          </a:p>
          <a:p>
            <a:br/>
            <a:pPr algn="ctr">
              <a:defRPr sz="1600">
                <a:solidFill>
                  <a:srgbClr val="F0F6FC"/>
                </a:solidFill>
              </a:defRPr>
            </a:pPr>
            <a:r>
              <a:t>• Multi-Tier Storage Orchestrator compiled with 0 errors &amp; 0 warnings.</a:t>
            </a:r>
            <a:br/>
            <a:r>
              <a:t>• Unit tests passed (100%) &amp; benchmark verified (&gt; 2.2M blocks/sec).</a:t>
            </a:r>
            <a:br/>
            <a:r>
              <a:t>• Includes build.sh, run.sh, Makefiles, and complete Stage 1-6 docs.</a:t>
            </a:r>
            <a:br/>
          </a:p>
          <a:p>
            <a:pPr algn="ctr">
              <a:defRPr sz="1800" b="1">
                <a:solidFill>
                  <a:srgbClr val="58A6FF"/>
                </a:solidFill>
              </a:defRPr>
            </a:pPr>
            <a:r>
              <a:t>Thank You!</a:t>
            </a:r>
            <a:br/>
            <a:r>
              <a:t>Debashis Tripathy | Reg No: 2341020048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